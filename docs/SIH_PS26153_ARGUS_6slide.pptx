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00584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 u="none">
                <a:solidFill>
                  <a:srgbClr val="1F3864"/>
                </a:solidFill>
                <a:latin typeface="Times New Roman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69880" y="164592"/>
            <a:ext cx="16002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SMART INDIA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HACKATHON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38808"/>
                </a:solidFill>
                <a:latin typeface="Arial"/>
              </a:rPr>
              <a:t>2026</a:t>
            </a:r>
          </a:p>
        </p:txBody>
      </p:sp>
      <p:sp>
        <p:nvSpPr>
          <p:cNvPr id="4" name="Oval 3"/>
          <p:cNvSpPr/>
          <p:nvPr/>
        </p:nvSpPr>
        <p:spPr>
          <a:xfrm>
            <a:off x="11475720" y="749808"/>
            <a:ext cx="118872" cy="118872"/>
          </a:xfrm>
          <a:prstGeom prst="ellipse">
            <a:avLst/>
          </a:prstGeom>
          <a:solidFill>
            <a:srgbClr val="FF9933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622024" y="749808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68328" y="749808"/>
            <a:ext cx="118872" cy="118872"/>
          </a:xfrm>
          <a:prstGeom prst="ellipse">
            <a:avLst/>
          </a:prstGeom>
          <a:solidFill>
            <a:srgbClr val="138808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24128"/>
            <a:ext cx="103327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 i="0" u="none">
                <a:solidFill>
                  <a:srgbClr val="1A1A1A"/>
                </a:solidFill>
                <a:latin typeface="Times New Roman"/>
              </a:rPr>
              <a:t>TITLE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635508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1" i="0" u="none">
                <a:solidFill>
                  <a:srgbClr val="1A1A1A"/>
                </a:solidFill>
                <a:latin typeface="Arial"/>
              </a:rPr>
              <a:t>Problem Statement ID – </a:t>
            </a:r>
            <a:r>
              <a:rPr sz="1800" b="1" i="0" u="none">
                <a:solidFill>
                  <a:srgbClr val="1F4E79"/>
                </a:solidFill>
                <a:latin typeface="Arial"/>
              </a:rPr>
              <a:t>26153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1" i="0" u="none">
                <a:solidFill>
                  <a:srgbClr val="1A1A1A"/>
                </a:solidFill>
                <a:latin typeface="Arial"/>
              </a:rPr>
              <a:t>Problem Statement Title – </a:t>
            </a:r>
            <a:r>
              <a:rPr sz="1600" b="1" i="0" u="none">
                <a:solidFill>
                  <a:srgbClr val="1F4E79"/>
                </a:solidFill>
                <a:latin typeface="Arial"/>
              </a:rPr>
              <a:t>AI-based Network Attack Forecasting from Network Traffic Data using World Models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1" i="0" u="none">
                <a:solidFill>
                  <a:srgbClr val="1A1A1A"/>
                </a:solidFill>
                <a:latin typeface="Arial"/>
              </a:rPr>
              <a:t>Theme – </a:t>
            </a:r>
            <a:r>
              <a:rPr sz="1800" b="1" i="0" u="none">
                <a:solidFill>
                  <a:srgbClr val="1F4E79"/>
                </a:solidFill>
                <a:latin typeface="Arial"/>
              </a:rPr>
              <a:t>&lt;exact theme from SIH portal&gt;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1" i="0" u="none">
                <a:solidFill>
                  <a:srgbClr val="1A1A1A"/>
                </a:solidFill>
                <a:latin typeface="Arial"/>
              </a:rPr>
              <a:t>PS Category – </a:t>
            </a:r>
            <a:r>
              <a:rPr sz="1800" b="1" i="0" u="none">
                <a:solidFill>
                  <a:srgbClr val="1F4E79"/>
                </a:solidFill>
                <a:latin typeface="Arial"/>
              </a:rPr>
              <a:t>Software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1" i="0" u="none">
                <a:solidFill>
                  <a:srgbClr val="1A1A1A"/>
                </a:solidFill>
                <a:latin typeface="Arial"/>
              </a:rPr>
              <a:t>Team ID – </a:t>
            </a:r>
            <a:r>
              <a:rPr sz="1800" b="1" i="0" u="none">
                <a:solidFill>
                  <a:srgbClr val="1F4E79"/>
                </a:solidFill>
                <a:latin typeface="Arial"/>
              </a:rPr>
              <a:t>&lt;from portal&gt;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800" b="1" i="0" u="none">
                <a:solidFill>
                  <a:srgbClr val="1A1A1A"/>
                </a:solidFill>
                <a:latin typeface="Arial"/>
              </a:rPr>
              <a:t>Team Name (Registered on portal) – </a:t>
            </a:r>
            <a:r>
              <a:rPr sz="1800" b="1" i="0" u="none">
                <a:solidFill>
                  <a:srgbClr val="1F4E79"/>
                </a:solidFill>
                <a:latin typeface="Arial"/>
              </a:rPr>
              <a:t>&lt;registered team name&gt;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331720"/>
            <a:ext cx="4526280" cy="1965960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50" b="1" i="0" u="none">
                <a:solidFill>
                  <a:srgbClr val="1F3864"/>
                </a:solidFill>
                <a:latin typeface="Arial"/>
              </a:rPr>
              <a:t>ARGUS — an offline AI that predicts the next attack stage BEFORE the hacker lands, and explains why.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 u="none">
                <a:solidFill>
                  <a:srgbClr val="1F4E79"/>
                </a:solidFill>
                <a:latin typeface="Arial"/>
              </a:rPr>
              <a:t>Autonomous Attack Forecasting &amp; Multi-Agent SOC Co-Pilot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4572000"/>
            <a:ext cx="658368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PyTorch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4572000"/>
            <a:ext cx="658368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14232" y="4572000"/>
            <a:ext cx="658368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4572000"/>
            <a:ext cx="658368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ATT&amp;CK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8984" y="4572000"/>
            <a:ext cx="658368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SHAP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81359" y="457200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27432" bIns="27432"/>
          <a:lstStyle/>
          <a:p>
            <a:pPr algn="ctr">
              <a:spcAft>
                <a:spcPts val="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Open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4334256"/>
            <a:ext cx="45262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 u="none">
                <a:solidFill>
                  <a:srgbClr val="444444"/>
                </a:solidFill>
                <a:latin typeface="Arial"/>
              </a:rPr>
              <a:t>CORE DOMAIN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164592"/>
            <a:ext cx="89611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 i="0" u="none">
                <a:solidFill>
                  <a:srgbClr val="1A1A1A"/>
                </a:solidFill>
                <a:latin typeface="Times New Roman"/>
              </a:rPr>
              <a:t>IDEA TITLE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109728"/>
            <a:ext cx="1417320" cy="731520"/>
          </a:xfrm>
          <a:prstGeom prst="ellipse">
            <a:avLst/>
          </a:prstGeom>
          <a:noFill/>
          <a:ln w="19050">
            <a:solidFill>
              <a:srgbClr val="7C4D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Your</a:t>
            </a:r>
          </a:p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Team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128016"/>
            <a:ext cx="16916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SMART INDIA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HACKATHON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38808"/>
                </a:solidFill>
                <a:latin typeface="Arial"/>
              </a:rPr>
              <a:t>2026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713232"/>
            <a:ext cx="118872" cy="118872"/>
          </a:xfrm>
          <a:prstGeom prst="ellipse">
            <a:avLst/>
          </a:prstGeom>
          <a:solidFill>
            <a:srgbClr val="FF9933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22024" y="713232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68328" y="713232"/>
            <a:ext cx="118872" cy="118872"/>
          </a:xfrm>
          <a:prstGeom prst="ellipse">
            <a:avLst/>
          </a:prstGeom>
          <a:solidFill>
            <a:srgbClr val="138808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7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74536"/>
            <a:ext cx="12191695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5895" y="6574536"/>
            <a:ext cx="4572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960120"/>
            <a:ext cx="11430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 u="sng">
                <a:solidFill>
                  <a:srgbClr val="1F4E79"/>
                </a:solidFill>
                <a:latin typeface="Arial"/>
              </a:rPr>
              <a:t>❖ Proposed Solution (Describe your Idea/Solution/Prototype)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99616"/>
            <a:ext cx="114300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u="none">
                <a:solidFill>
                  <a:srgbClr val="C0392B"/>
                </a:solidFill>
                <a:latin typeface="Arial"/>
              </a:rPr>
              <a:t>ARGUS — Autonomous Attack Forecasting &amp; Multi-Agent SOC Co-Pilot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847088"/>
            <a:ext cx="2615184" cy="1298448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400"/>
              </a:spcAft>
            </a:pPr>
            <a:r>
              <a:rPr sz="1300" b="1" i="0" u="none">
                <a:solidFill>
                  <a:srgbClr val="1F4E79"/>
                </a:solidFill>
                <a:latin typeface="Arial"/>
              </a:rPr>
              <a:t>① INPUT</a:t>
            </a:r>
          </a:p>
          <a:p>
            <a:pPr algn="ctr"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Flow CSV / PCAP</a:t>
            </a:r>
          </a:p>
          <a:p>
            <a:pPr algn="ctr"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telemetry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26663" y="2368296"/>
            <a:ext cx="329184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3279" y="1847088"/>
            <a:ext cx="2615184" cy="1298448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400"/>
              </a:spcAft>
            </a:pPr>
            <a:r>
              <a:rPr sz="1300" b="1" i="0" u="none">
                <a:solidFill>
                  <a:srgbClr val="E67E22"/>
                </a:solidFill>
                <a:latin typeface="Arial"/>
              </a:rPr>
              <a:t>② WORLD MODEL</a:t>
            </a:r>
          </a:p>
          <a:p>
            <a:pPr algn="ctr"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Learns P(S(t+1) | S(t))</a:t>
            </a:r>
          </a:p>
          <a:p>
            <a:pPr algn="ctr"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— how the network evolves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25896" y="2368296"/>
            <a:ext cx="329184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2512" y="1847088"/>
            <a:ext cx="2615184" cy="1298448"/>
          </a:xfrm>
          <a:prstGeom prst="roundRect">
            <a:avLst/>
          </a:prstGeom>
          <a:solidFill>
            <a:srgbClr val="FDF6E3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400"/>
              </a:spcAft>
            </a:pPr>
            <a:r>
              <a:rPr sz="1300" b="1" i="0" u="none">
                <a:solidFill>
                  <a:srgbClr val="C0392B"/>
                </a:solidFill>
                <a:latin typeface="Arial"/>
              </a:rPr>
              <a:t>③ FORECAST</a:t>
            </a:r>
          </a:p>
          <a:p>
            <a:pPr algn="ctr"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K-step rollout → attacker's</a:t>
            </a:r>
          </a:p>
          <a:p>
            <a:pPr algn="ctr"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next move + P(infiltration)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25128" y="2368296"/>
            <a:ext cx="329184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81744" y="1847088"/>
            <a:ext cx="2615184" cy="1298448"/>
          </a:xfrm>
          <a:prstGeom prst="roundRect">
            <a:avLst/>
          </a:prstGeom>
          <a:solidFill>
            <a:srgbClr val="ECF7EF"/>
          </a:solidFill>
          <a:ln w="190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400"/>
              </a:spcAft>
            </a:pPr>
            <a:r>
              <a:rPr sz="1300" b="1" i="0" u="none">
                <a:solidFill>
                  <a:srgbClr val="1E8E3E"/>
                </a:solidFill>
                <a:latin typeface="Arial"/>
              </a:rPr>
              <a:t>④ OUTPUT</a:t>
            </a:r>
          </a:p>
          <a:p>
            <a:pPr algn="ctr"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MITRE stage + SHAP reasons</a:t>
            </a:r>
          </a:p>
          <a:p>
            <a:pPr algn="ctr">
              <a:spcAft>
                <a:spcPts val="0"/>
              </a:spcAft>
            </a:pPr>
            <a:r>
              <a:rPr sz="1050" b="0" i="0" u="none">
                <a:solidFill>
                  <a:srgbClr val="1A1A1A"/>
                </a:solidFill>
                <a:latin typeface="Arial"/>
              </a:rPr>
              <a:t>+ offline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01568"/>
            <a:ext cx="5623560" cy="3017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 u="none">
                <a:solidFill>
                  <a:srgbClr val="1F4E79"/>
                </a:solidFill>
                <a:latin typeface="Arial"/>
              </a:rPr>
              <a:t>✔ Detailed explanation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Watches traffic as a time-story, not isolated packets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Learns network world model: P(next state | current state)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Forecasts K steps ahead → attack probability before compromise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Maps forecast to MITRE ATT&amp;CK kill-chain stages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Explains every alert: SHAP + attention weights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Runs 100% offline — no cloud APIs, air-gap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401568"/>
            <a:ext cx="5577840" cy="3017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 u="none">
                <a:solidFill>
                  <a:srgbClr val="1F4E79"/>
                </a:solidFill>
                <a:latin typeface="Arial"/>
              </a:rPr>
              <a:t>✔ How it addresses the problem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Today's IDS alarms AFTER entry — 241 days avg to contain (IBM 2025)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ARGUS warns during recon / lateral movement — before exfiltration</a:t>
            </a:r>
          </a:p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sz="1350" b="1" i="0" u="none">
                <a:solidFill>
                  <a:srgbClr val="1F4E79"/>
                </a:solidFill>
                <a:latin typeface="Arial"/>
              </a:rPr>
              <a:t>✔ Innovation &amp; uniqueness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1st open-source combo: real flow+packet telemetry → learned state transitions → K-step attack forecast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Dual engine: Temporal Transformer + zero-dependency Markov fallback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Auto-generates CERT-In (6-hr SLA) &amp; NCIIPC CII advisories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164592"/>
            <a:ext cx="89611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 i="0" u="none">
                <a:solidFill>
                  <a:srgbClr val="1A1A1A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109728"/>
            <a:ext cx="1417320" cy="731520"/>
          </a:xfrm>
          <a:prstGeom prst="ellipse">
            <a:avLst/>
          </a:prstGeom>
          <a:noFill/>
          <a:ln w="19050">
            <a:solidFill>
              <a:srgbClr val="7C4D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Your</a:t>
            </a:r>
          </a:p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Team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128016"/>
            <a:ext cx="16916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SMART INDIA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HACKATHON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38808"/>
                </a:solidFill>
                <a:latin typeface="Arial"/>
              </a:rPr>
              <a:t>2026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713232"/>
            <a:ext cx="118872" cy="118872"/>
          </a:xfrm>
          <a:prstGeom prst="ellipse">
            <a:avLst/>
          </a:prstGeom>
          <a:solidFill>
            <a:srgbClr val="FF9933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22024" y="713232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68328" y="713232"/>
            <a:ext cx="118872" cy="118872"/>
          </a:xfrm>
          <a:prstGeom prst="ellipse">
            <a:avLst/>
          </a:prstGeom>
          <a:solidFill>
            <a:srgbClr val="138808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7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74536"/>
            <a:ext cx="12191695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5895" y="6574536"/>
            <a:ext cx="4572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932688"/>
            <a:ext cx="11338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444444"/>
                </a:solidFill>
                <a:latin typeface="Arial"/>
              </a:rPr>
              <a:t>◆ Technologies to be used   ·   ◆ Methodology &amp; process (flow)   ·   ◆ Working prototype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280160"/>
            <a:ext cx="5623560" cy="6766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F4E79"/>
                </a:solidFill>
                <a:latin typeface="Arial"/>
              </a:rPr>
              <a:t>Languages &amp; Core: 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Python 3.10 · pandas · Scapy / PyShark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066543"/>
            <a:ext cx="5623560" cy="6766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0392B"/>
                </a:solidFill>
                <a:latin typeface="Arial"/>
              </a:rPr>
              <a:t>ML / AI Engine: 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PyTorch Temporal Transformer (4-layer, 612K params) · Random Forest + TreeSHAP · Markov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52928"/>
            <a:ext cx="5623560" cy="6766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F4E79"/>
                </a:solidFill>
                <a:latin typeface="Arial"/>
              </a:rPr>
              <a:t>Backend &amp; Logic: 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FastAPI · SSE streaming · MCP tool server · CLI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39312"/>
            <a:ext cx="5623560" cy="6766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F4E79"/>
                </a:solidFill>
                <a:latin typeface="Arial"/>
              </a:rPr>
              <a:t>Frontend / UI: 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Offline single-page SOC dashboard (HTML/JS) — no internet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280160"/>
            <a:ext cx="5623560" cy="6766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E8E3E"/>
                </a:solidFill>
                <a:latin typeface="Arial"/>
              </a:rPr>
              <a:t>Data — 8 loaders: 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CIC-IDS-2017/18 · UNSW-NB15 · CTU-13 · CICIoT2023 · LANL · DARPA/NSL-KDD · synthetic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66543"/>
            <a:ext cx="5623560" cy="6766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E67E22"/>
                </a:solidFill>
                <a:latin typeface="Arial"/>
              </a:rPr>
              <a:t>Knowledge &amp; Standards: 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MITRE ATT&amp;CK v14 (697 techniques) · CAPEC · NIST NVD · NetFlow / PCAP / IPFIX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852928"/>
            <a:ext cx="5623560" cy="6766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1E8E3E"/>
                </a:solidFill>
                <a:latin typeface="Arial"/>
              </a:rPr>
              <a:t>Deploy / Hardware: 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Docker · CPU-only (no GPU) · fully air-gapped capable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639312"/>
            <a:ext cx="5623560" cy="6766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C0392B"/>
                </a:solidFill>
                <a:latin typeface="Arial"/>
              </a:rPr>
              <a:t>✓ Working Prototype:  </a:t>
            </a:r>
            <a:r>
              <a:rPr sz="1050" b="0" i="0" u="none">
                <a:solidFill>
                  <a:srgbClr val="1A1A1A"/>
                </a:solidFill>
                <a:latin typeface="Arial"/>
              </a:rPr>
              <a:t>5-tab dashboard · CLI skills · 37/37 tests green · 1-command docker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498848"/>
            <a:ext cx="11338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444444"/>
                </a:solidFill>
                <a:latin typeface="Arial"/>
              </a:rPr>
              <a:t>METHODOLOGY — INPUT → PROCESS → OUTPUT FLOW</a:t>
            </a:r>
          </a:p>
        </p:txBody>
      </p:sp>
      <p:sp>
        <p:nvSpPr>
          <p:cNvPr id="21" name="Chevron 20"/>
          <p:cNvSpPr/>
          <p:nvPr/>
        </p:nvSpPr>
        <p:spPr>
          <a:xfrm>
            <a:off x="292608" y="4828032"/>
            <a:ext cx="1536192" cy="1097280"/>
          </a:xfrm>
          <a:prstGeom prst="chevron">
            <a:avLst>
              <a:gd name="adj" fmla="val 208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PCAP /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Flow CSV</a:t>
            </a:r>
          </a:p>
        </p:txBody>
      </p:sp>
      <p:sp>
        <p:nvSpPr>
          <p:cNvPr id="22" name="Chevron 21"/>
          <p:cNvSpPr/>
          <p:nvPr/>
        </p:nvSpPr>
        <p:spPr>
          <a:xfrm>
            <a:off x="1732788" y="4828032"/>
            <a:ext cx="1536192" cy="1097280"/>
          </a:xfrm>
          <a:prstGeom prst="chevron">
            <a:avLst>
              <a:gd name="adj" fmla="val 20800"/>
            </a:avLst>
          </a:prstGeom>
          <a:solidFill>
            <a:srgbClr val="0E7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38-feature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windows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(5–10 s)</a:t>
            </a:r>
          </a:p>
        </p:txBody>
      </p:sp>
      <p:sp>
        <p:nvSpPr>
          <p:cNvPr id="23" name="Chevron 22"/>
          <p:cNvSpPr/>
          <p:nvPr/>
        </p:nvSpPr>
        <p:spPr>
          <a:xfrm>
            <a:off x="3172968" y="4828032"/>
            <a:ext cx="1536192" cy="1097280"/>
          </a:xfrm>
          <a:prstGeom prst="chevron">
            <a:avLst>
              <a:gd name="adj" fmla="val 208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Sequences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[t-2, t-1, t0]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→ t+1</a:t>
            </a:r>
          </a:p>
        </p:txBody>
      </p:sp>
      <p:sp>
        <p:nvSpPr>
          <p:cNvPr id="24" name="Chevron 23"/>
          <p:cNvSpPr/>
          <p:nvPr/>
        </p:nvSpPr>
        <p:spPr>
          <a:xfrm>
            <a:off x="4613148" y="4828032"/>
            <a:ext cx="1536192" cy="1097280"/>
          </a:xfrm>
          <a:prstGeom prst="chevron">
            <a:avLst>
              <a:gd name="adj" fmla="val 20800"/>
            </a:avLst>
          </a:prstGeom>
          <a:solidFill>
            <a:srgbClr val="0E7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Dual engine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RF + Temporal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Transformer</a:t>
            </a:r>
          </a:p>
        </p:txBody>
      </p:sp>
      <p:sp>
        <p:nvSpPr>
          <p:cNvPr id="25" name="Chevron 24"/>
          <p:cNvSpPr/>
          <p:nvPr/>
        </p:nvSpPr>
        <p:spPr>
          <a:xfrm>
            <a:off x="6053328" y="4828032"/>
            <a:ext cx="1536192" cy="1097280"/>
          </a:xfrm>
          <a:prstGeom prst="chevron">
            <a:avLst>
              <a:gd name="adj" fmla="val 208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3 heads: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state / stage /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P(infiltration)</a:t>
            </a:r>
          </a:p>
        </p:txBody>
      </p:sp>
      <p:sp>
        <p:nvSpPr>
          <p:cNvPr id="26" name="Chevron 25"/>
          <p:cNvSpPr/>
          <p:nvPr/>
        </p:nvSpPr>
        <p:spPr>
          <a:xfrm>
            <a:off x="7493508" y="4828032"/>
            <a:ext cx="1536192" cy="1097280"/>
          </a:xfrm>
          <a:prstGeom prst="chevron">
            <a:avLst>
              <a:gd name="adj" fmla="val 20800"/>
            </a:avLst>
          </a:prstGeom>
          <a:solidFill>
            <a:srgbClr val="0E7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K-step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autoregressive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rollout</a:t>
            </a:r>
          </a:p>
        </p:txBody>
      </p:sp>
      <p:sp>
        <p:nvSpPr>
          <p:cNvPr id="27" name="Chevron 26"/>
          <p:cNvSpPr/>
          <p:nvPr/>
        </p:nvSpPr>
        <p:spPr>
          <a:xfrm>
            <a:off x="8933688" y="4828032"/>
            <a:ext cx="1536192" cy="1097280"/>
          </a:xfrm>
          <a:prstGeom prst="chevron">
            <a:avLst>
              <a:gd name="adj" fmla="val 208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Explain: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SHAP +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attention</a:t>
            </a:r>
          </a:p>
        </p:txBody>
      </p:sp>
      <p:sp>
        <p:nvSpPr>
          <p:cNvPr id="28" name="Chevron 27"/>
          <p:cNvSpPr/>
          <p:nvPr/>
        </p:nvSpPr>
        <p:spPr>
          <a:xfrm>
            <a:off x="10373868" y="4828032"/>
            <a:ext cx="1536192" cy="1097280"/>
          </a:xfrm>
          <a:prstGeom prst="chevron">
            <a:avLst>
              <a:gd name="adj" fmla="val 20800"/>
            </a:avLst>
          </a:prstGeom>
          <a:solidFill>
            <a:srgbClr val="0E7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Dashboard +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CERT-In /</a:t>
            </a:r>
          </a:p>
          <a:p>
            <a:pPr algn="ctr">
              <a:spcAft>
                <a:spcPts val="0"/>
              </a:spcAft>
            </a:pPr>
            <a:r>
              <a:rPr sz="900" b="1" i="0" u="none">
                <a:solidFill>
                  <a:srgbClr val="FFFFFF"/>
                </a:solidFill>
                <a:latin typeface="Arial"/>
              </a:rPr>
              <a:t>NCIIPC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03504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 u="none">
                <a:solidFill>
                  <a:srgbClr val="444444"/>
                </a:solidFill>
                <a:latin typeface="Arial"/>
              </a:rPr>
              <a:t>Temporal split — no future leakage  ·  Combined loss: MSE(state) + CE(stage) + BCE(infiltration) = 0.3 / 0.4 / 0.3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164592"/>
            <a:ext cx="89611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 i="0" u="none">
                <a:solidFill>
                  <a:srgbClr val="1A1A1A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109728"/>
            <a:ext cx="1417320" cy="731520"/>
          </a:xfrm>
          <a:prstGeom prst="ellipse">
            <a:avLst/>
          </a:prstGeom>
          <a:noFill/>
          <a:ln w="19050">
            <a:solidFill>
              <a:srgbClr val="7C4D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Your</a:t>
            </a:r>
          </a:p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Team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128016"/>
            <a:ext cx="16916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SMART INDIA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HACKATHON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38808"/>
                </a:solidFill>
                <a:latin typeface="Arial"/>
              </a:rPr>
              <a:t>2026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713232"/>
            <a:ext cx="118872" cy="118872"/>
          </a:xfrm>
          <a:prstGeom prst="ellipse">
            <a:avLst/>
          </a:prstGeom>
          <a:solidFill>
            <a:srgbClr val="FF9933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22024" y="713232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68328" y="713232"/>
            <a:ext cx="118872" cy="118872"/>
          </a:xfrm>
          <a:prstGeom prst="ellipse">
            <a:avLst/>
          </a:prstGeom>
          <a:solidFill>
            <a:srgbClr val="138808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7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74536"/>
            <a:ext cx="12191695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5895" y="6574536"/>
            <a:ext cx="4572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932688"/>
            <a:ext cx="11430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444444"/>
                </a:solidFill>
                <a:latin typeface="Arial"/>
              </a:rPr>
              <a:t>◆ Analysis of feasibility   ·   ◆ Potential challenges and risks   ·   ◆ Strategies for overcoming these challenges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280160"/>
            <a:ext cx="3657600" cy="402336"/>
          </a:xfrm>
          <a:prstGeom prst="roundRect">
            <a:avLst>
              <a:gd name="adj" fmla="val 18000"/>
            </a:avLst>
          </a:prstGeom>
          <a:solidFill>
            <a:srgbClr val="1E8E3E"/>
          </a:solidFill>
          <a:ln w="12700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ANALYSIS OF FEASIBILITY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645919"/>
            <a:ext cx="3657600" cy="3703320"/>
          </a:xfrm>
          <a:prstGeom prst="roundRect">
            <a:avLst/>
          </a:prstGeom>
          <a:solidFill>
            <a:srgbClr val="ECF7EF"/>
          </a:solidFill>
          <a:ln w="15875">
            <a:solidFill>
              <a:srgbClr val="1E8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Technical: 612K-param model trains in ~58 s on CPU; real-time inference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Operational: drop-in on existing NetFlow/PCAP sensors; Docker = 1 command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Economic: 100% open-source → zero cloud / API / licence cost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Data: 8 public benchmark datasets already bundled &amp; normalized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Already prototyped: live dashboard + CLI + 37/37 tests green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1280160"/>
            <a:ext cx="3657600" cy="402336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27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POTENTIAL CHALLENGES &amp; RISKS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1645919"/>
            <a:ext cx="3657600" cy="3703320"/>
          </a:xfrm>
          <a:prstGeom prst="roundRect">
            <a:avLst/>
          </a:prstGeom>
          <a:solidFill>
            <a:srgbClr val="FDF2E9"/>
          </a:solidFill>
          <a:ln w="158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False alarms / alert fatigue on never-seen attack variants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Raw PCAP volume (GBs) &amp; class imbalance in labels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Model drift as attackers change tactics (TTPs)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AI co-pilot itself: prompt-injection &amp; PII-leakage risk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Legacy / air-gapped CII networks with no GPU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280160"/>
            <a:ext cx="3657600" cy="402336"/>
          </a:xfrm>
          <a:prstGeom prst="roundRect">
            <a:avLst>
              <a:gd name="adj" fmla="val 18000"/>
            </a:avLst>
          </a:prstGeom>
          <a:solidFill>
            <a:srgbClr val="0E76BE"/>
          </a:solidFill>
          <a:ln w="12700">
            <a:solidFill>
              <a:srgbClr val="0E7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STRATEGIES TO OVERCOME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5592" y="1645919"/>
            <a:ext cx="3657600" cy="3703320"/>
          </a:xfrm>
          <a:prstGeom prst="roundRect">
            <a:avLst/>
          </a:prstGeom>
          <a:solidFill>
            <a:srgbClr val="EAF2FB"/>
          </a:solidFill>
          <a:ln w="15875">
            <a:solidFill>
              <a:srgbClr val="0E7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Temporal no-leak splits + 8-dataset eval vs LR/RF baseline (FPR per class)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Flow aggregation before inference — never feed raw PCAP to the model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Continuous retraining triggers + kill-chain transition monitoring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Guardrails: PII redaction · RBAC · injection scan · HMAC audit · human approval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Markov fallback — zero ML dependencies on old hardware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532120"/>
            <a:ext cx="11457432" cy="822960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>
              <a:spcAft>
                <a:spcPts val="300"/>
              </a:spcAft>
            </a:pPr>
            <a:r>
              <a:rPr sz="1200" b="1" i="0" u="none">
                <a:solidFill>
                  <a:srgbClr val="FFD54F"/>
                </a:solidFill>
                <a:latin typeface="Arial"/>
              </a:rPr>
              <a:t>SECURITY &amp; COMPLIANCE</a:t>
            </a:r>
          </a:p>
          <a:p>
            <a:pPr algn="ctr">
              <a:spcAft>
                <a:spcPts val="0"/>
              </a:spcAft>
            </a:pPr>
            <a:r>
              <a:rPr sz="1150" b="1" i="0" u="none">
                <a:solidFill>
                  <a:srgbClr val="FFFFFF"/>
                </a:solidFill>
                <a:latin typeface="Arial"/>
              </a:rPr>
              <a:t>Air-gapped / no cloud APIs  ·  AES-256 at rest  ·  tamper-evident SHA-256 HMAC audit  ·  CERT-In 6-hour SLA (Sec 70B)  ·  NCIIPC CII advisory (Sec 70A — 6 sectors)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164592"/>
            <a:ext cx="89611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 i="0" u="none">
                <a:solidFill>
                  <a:srgbClr val="1A1A1A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109728"/>
            <a:ext cx="1417320" cy="731520"/>
          </a:xfrm>
          <a:prstGeom prst="ellipse">
            <a:avLst/>
          </a:prstGeom>
          <a:noFill/>
          <a:ln w="19050">
            <a:solidFill>
              <a:srgbClr val="7C4D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Your</a:t>
            </a:r>
          </a:p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Team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128016"/>
            <a:ext cx="16916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SMART INDIA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HACKATHON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38808"/>
                </a:solidFill>
                <a:latin typeface="Arial"/>
              </a:rPr>
              <a:t>2026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713232"/>
            <a:ext cx="118872" cy="118872"/>
          </a:xfrm>
          <a:prstGeom prst="ellipse">
            <a:avLst/>
          </a:prstGeom>
          <a:solidFill>
            <a:srgbClr val="FF9933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22024" y="713232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68328" y="713232"/>
            <a:ext cx="118872" cy="118872"/>
          </a:xfrm>
          <a:prstGeom prst="ellipse">
            <a:avLst/>
          </a:prstGeom>
          <a:solidFill>
            <a:srgbClr val="138808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7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74536"/>
            <a:ext cx="12191695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5895" y="6574536"/>
            <a:ext cx="4572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932688"/>
            <a:ext cx="11430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444444"/>
                </a:solidFill>
                <a:latin typeface="Arial"/>
              </a:rPr>
              <a:t>◆ Measurable impact (benchmarked)   ·   ◆ Potential impact on the target audience   ·   ◆ Benefits (social, economic, environmental)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298448"/>
            <a:ext cx="2157984" cy="1225296"/>
          </a:xfrm>
          <a:prstGeom prst="roundRect">
            <a:avLst/>
          </a:prstGeom>
          <a:solidFill>
            <a:srgbClr val="EAF0F8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2500" b="1" i="0" u="none">
                <a:solidFill>
                  <a:srgbClr val="0E76BE"/>
                </a:solidFill>
                <a:latin typeface="Arial"/>
              </a:rPr>
              <a:t>99.97%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444444"/>
                </a:solidFill>
                <a:latin typeface="Arial"/>
              </a:rPr>
              <a:t>World-model accuracy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444444"/>
                </a:solidFill>
                <a:latin typeface="Arial"/>
              </a:rPr>
              <a:t>(vs 93.0% RF baseline)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8336" y="1298448"/>
            <a:ext cx="2157984" cy="1225296"/>
          </a:xfrm>
          <a:prstGeom prst="roundRect">
            <a:avLst/>
          </a:prstGeom>
          <a:solidFill>
            <a:srgbClr val="EAF0F8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2500" b="1" i="0" u="none">
                <a:solidFill>
                  <a:srgbClr val="0E76BE"/>
                </a:solidFill>
                <a:latin typeface="Arial"/>
              </a:rPr>
              <a:t>0.983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444444"/>
                </a:solidFill>
                <a:latin typeface="Arial"/>
              </a:rPr>
              <a:t>Infiltration probability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444444"/>
                </a:solidFill>
                <a:latin typeface="Arial"/>
              </a:rPr>
              <a:t>AUC-ROC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0912" y="1298448"/>
            <a:ext cx="2157984" cy="1225296"/>
          </a:xfrm>
          <a:prstGeom prst="roundRect">
            <a:avLst/>
          </a:prstGeom>
          <a:solidFill>
            <a:srgbClr val="EAF0F8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2500" b="1" i="0" u="none">
                <a:solidFill>
                  <a:srgbClr val="0E76BE"/>
                </a:solidFill>
                <a:latin typeface="Arial"/>
              </a:rPr>
              <a:t>K = 5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444444"/>
                </a:solidFill>
                <a:latin typeface="Arial"/>
              </a:rPr>
              <a:t>windows of early warning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444444"/>
                </a:solidFill>
                <a:latin typeface="Arial"/>
              </a:rPr>
              <a:t>before compromise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3488" y="1298448"/>
            <a:ext cx="2157984" cy="1225296"/>
          </a:xfrm>
          <a:prstGeom prst="roundRect">
            <a:avLst/>
          </a:prstGeom>
          <a:solidFill>
            <a:srgbClr val="EAF0F8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2500" b="1" i="0" u="none">
                <a:solidFill>
                  <a:srgbClr val="0E76BE"/>
                </a:solidFill>
                <a:latin typeface="Arial"/>
              </a:rPr>
              <a:t>8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444444"/>
                </a:solidFill>
                <a:latin typeface="Arial"/>
              </a:rPr>
              <a:t>public benchmark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444444"/>
                </a:solidFill>
                <a:latin typeface="Arial"/>
              </a:rPr>
              <a:t>datasets supported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56064" y="1298448"/>
            <a:ext cx="2157984" cy="1225296"/>
          </a:xfrm>
          <a:prstGeom prst="roundRect">
            <a:avLst/>
          </a:prstGeom>
          <a:solidFill>
            <a:srgbClr val="EAF0F8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spcAft>
                <a:spcPts val="300"/>
              </a:spcAft>
            </a:pPr>
            <a:r>
              <a:rPr sz="2500" b="1" i="0" u="none">
                <a:solidFill>
                  <a:srgbClr val="0E76BE"/>
                </a:solidFill>
                <a:latin typeface="Arial"/>
              </a:rPr>
              <a:t>37/37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444444"/>
                </a:solidFill>
                <a:latin typeface="Arial"/>
              </a:rPr>
              <a:t>automated tests</a:t>
            </a:r>
          </a:p>
          <a:p>
            <a:pPr algn="ctr">
              <a:spcAft>
                <a:spcPts val="0"/>
              </a:spcAft>
            </a:pPr>
            <a:r>
              <a:rPr sz="950" b="0" i="0" u="none">
                <a:solidFill>
                  <a:srgbClr val="444444"/>
                </a:solidFill>
                <a:latin typeface="Arial"/>
              </a:rPr>
              <a:t>green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88920"/>
            <a:ext cx="5650992" cy="402336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54679"/>
            <a:ext cx="5650992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NTRO / NCIIPC: pre-breach forecasting for 6 CII sectors — power, BFSI, telecom, transport, govt, defence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SOC analysts: a few ranked, explained alerts — not thousands of noisy late alarms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Enterprises / ISPs / hospitals / railways: affordable, offline, Indian-made defence stack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Students &amp; open-source community: extensible MIT-licensed base for Indian cyber research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788920"/>
            <a:ext cx="5650992" cy="402336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BENEFITS OF THE SOLUTION (SOCIAL · ECONOMIC · STRATEGIC)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54679"/>
            <a:ext cx="5650992" cy="2880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Social: protects hospital, power-grid &amp; citizen data → trust in Digital India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Economic: breach avg $4.44M &amp; 241-day containment (IBM 2025) — ARGUS shortens detect→contain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National / strategic: Atmanirbhar sovereign offline stack — no foreign cloud, telemetry never leaves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 i="0" u="none">
                <a:solidFill>
                  <a:srgbClr val="1A1A1A"/>
                </a:solidFill>
                <a:latin typeface="Arial"/>
              </a:rPr>
              <a:t>• Environmental: CPU-only inference, no GPU farm · Ecosystem: open-source SOC tooling for India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00200" y="164592"/>
            <a:ext cx="89611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1" i="0" u="none">
                <a:solidFill>
                  <a:srgbClr val="1A1A1A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3" name="Oval 2"/>
          <p:cNvSpPr/>
          <p:nvPr/>
        </p:nvSpPr>
        <p:spPr>
          <a:xfrm>
            <a:off x="228600" y="109728"/>
            <a:ext cx="1417320" cy="731520"/>
          </a:xfrm>
          <a:prstGeom prst="ellipse">
            <a:avLst/>
          </a:prstGeom>
          <a:noFill/>
          <a:ln w="19050">
            <a:solidFill>
              <a:srgbClr val="7C4D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Your</a:t>
            </a:r>
          </a:p>
          <a:p>
            <a:pPr algn="ctr">
              <a:spcAft>
                <a:spcPts val="0"/>
              </a:spcAft>
            </a:pPr>
            <a:r>
              <a:rPr sz="1100" b="0" i="0" u="none">
                <a:solidFill>
                  <a:srgbClr val="1A1A1A"/>
                </a:solidFill>
                <a:latin typeface="Arial"/>
              </a:rPr>
              <a:t>Team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128016"/>
            <a:ext cx="16916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SMART INDIA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 i="0" u="none">
                <a:solidFill>
                  <a:srgbClr val="1F3864"/>
                </a:solidFill>
                <a:latin typeface="Arial"/>
              </a:rPr>
              <a:t>HACKATHON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38808"/>
                </a:solidFill>
                <a:latin typeface="Arial"/>
              </a:rPr>
              <a:t>2026</a:t>
            </a:r>
          </a:p>
        </p:txBody>
      </p:sp>
      <p:sp>
        <p:nvSpPr>
          <p:cNvPr id="5" name="Oval 4"/>
          <p:cNvSpPr/>
          <p:nvPr/>
        </p:nvSpPr>
        <p:spPr>
          <a:xfrm>
            <a:off x="11475720" y="713232"/>
            <a:ext cx="118872" cy="118872"/>
          </a:xfrm>
          <a:prstGeom prst="ellipse">
            <a:avLst/>
          </a:prstGeom>
          <a:solidFill>
            <a:srgbClr val="FF9933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22024" y="713232"/>
            <a:ext cx="118872" cy="118872"/>
          </a:xfrm>
          <a:prstGeom prst="ellipse">
            <a:avLst/>
          </a:prstGeom>
          <a:solidFill>
            <a:srgbClr val="FFFFFF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68328" y="713232"/>
            <a:ext cx="118872" cy="118872"/>
          </a:xfrm>
          <a:prstGeom prst="ellipse">
            <a:avLst/>
          </a:prstGeom>
          <a:solidFill>
            <a:srgbClr val="138808"/>
          </a:solidFill>
          <a:ln w="635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7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74536"/>
            <a:ext cx="12191695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 u="none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5895" y="6574536"/>
            <a:ext cx="4572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932688"/>
            <a:ext cx="11430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444444"/>
                </a:solidFill>
                <a:latin typeface="Arial"/>
              </a:rPr>
              <a:t>◆ Details / Links of the reference and research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280160"/>
            <a:ext cx="4617720" cy="402336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PROBLEM STATEMENT &amp; STATUTORY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645919"/>
            <a:ext cx="4617720" cy="452627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SIH PS 26153 — AI-based Network Attack Forecasting using World Models (NTRO / NCIIPC), SIH 2026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CERT-In Cyber Security Directions 2022 — 6-hour incident reporting — https://www.cert-in.org.in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NCIIPC — Sec 70A, IT Act 2000 — CII protection — https://nciipc.gov.in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MITRE ATT&amp;CK v14 — https://attack.mitre.org  ·  CAPEC  ·  NIST NVD API 2.0 (CVSS v3.1)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IBM Cost of a Data Breach Report 2025 — $4.44M avg · 241-day containment — https://ibm.com/reports/data-breach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Datasets: CIC-IDS-2017/18 — https://www.unb.ca/cic/datasets/ids-2017.html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1280160"/>
            <a:ext cx="6592824" cy="402336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300" b="1" i="0" u="none">
                <a:solidFill>
                  <a:srgbClr val="FFFFFF"/>
                </a:solidFill>
                <a:latin typeface="Arial"/>
              </a:rPr>
              <a:t>RESEARCH FOUNDATIONS (RELATED WORK)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1645919"/>
            <a:ext cx="6592824" cy="452627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Field survey — Husák, Komárková, Bou-Harb, Čeleda: “Survey of Attack Projection, Prediction and Forecasting in Cyber Security”, IEEE COMST 2019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World models — Ha &amp; Schmidhuber 2018, arxiv.org/abs/1803.10122 · DreamerV3, Hafner et al. 2023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Security sequence prediction — Tiresias (CCS 2018) · DeepLog (CCS 2017) · DeepCASE (IEEE S&amp;P 2022)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Graph / provenance NIDS — E-GraphSAGE · Anomal-E · Kairos (IEEE S&amp;P 2024)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Explainability — SHAP: Lundberg &amp; Lee, arxiv.org/abs/1705.07874  ·  attention-weight attribution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More datasets — UNSW-NB15 · CTU-13 · CICIoT2023 · LANL auth (loaders in ml/world_model/dataset_loader.py)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50" b="0" i="0" u="none">
                <a:solidFill>
                  <a:srgbClr val="1A1A1A"/>
                </a:solidFill>
                <a:latin typeface="Arial"/>
              </a:rPr>
              <a:t>• Reproducible baseline harness — World Model vs Logistic Regression: ml/world_model/benchmark.py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